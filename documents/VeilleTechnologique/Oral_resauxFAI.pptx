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256" r:id="rId2"/>
    <p:sldId id="257" r:id="rId3"/>
    <p:sldId id="268" r:id="rId4"/>
    <p:sldId id="259" r:id="rId5"/>
    <p:sldId id="260" r:id="rId6"/>
    <p:sldId id="265" r:id="rId7"/>
    <p:sldId id="263" r:id="rId8"/>
    <p:sldId id="266" r:id="rId9"/>
    <p:sldId id="267" r:id="rId10"/>
    <p:sldId id="261" r:id="rId11"/>
    <p:sldId id="262" r:id="rId12"/>
    <p:sldId id="264" r:id="rId13"/>
    <p:sldId id="25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>
        <p:guide pos="3840"/>
        <p:guide pos="39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C106E4-6BF6-434E-8D56-20837C91DB5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48963C9-B0A7-4DE7-A55F-E6E2BBEC3E23}">
      <dgm:prSet/>
      <dgm:spPr/>
      <dgm:t>
        <a:bodyPr/>
        <a:lstStyle/>
        <a:p>
          <a:r>
            <a:rPr lang="fr-FR" b="1"/>
            <a:t>Assistants virtuels</a:t>
          </a:r>
          <a:r>
            <a:rPr lang="fr-FR"/>
            <a:t> pour le support client.</a:t>
          </a:r>
          <a:endParaRPr lang="en-US"/>
        </a:p>
      </dgm:t>
    </dgm:pt>
    <dgm:pt modelId="{75C84FF1-5763-4922-8522-DADCAA5FF3D0}" type="parTrans" cxnId="{6323807D-D4B4-4EB9-830A-0F1267DE6260}">
      <dgm:prSet/>
      <dgm:spPr/>
      <dgm:t>
        <a:bodyPr/>
        <a:lstStyle/>
        <a:p>
          <a:endParaRPr lang="en-US"/>
        </a:p>
      </dgm:t>
    </dgm:pt>
    <dgm:pt modelId="{16542942-D4DD-4927-9234-EBE624C580F4}" type="sibTrans" cxnId="{6323807D-D4B4-4EB9-830A-0F1267DE6260}">
      <dgm:prSet/>
      <dgm:spPr/>
      <dgm:t>
        <a:bodyPr/>
        <a:lstStyle/>
        <a:p>
          <a:endParaRPr lang="en-US"/>
        </a:p>
      </dgm:t>
    </dgm:pt>
    <dgm:pt modelId="{38DBF056-BA29-4D75-85A1-725BAB696C43}">
      <dgm:prSet/>
      <dgm:spPr/>
      <dgm:t>
        <a:bodyPr/>
        <a:lstStyle/>
        <a:p>
          <a:r>
            <a:rPr lang="fr-FR" b="1" dirty="0"/>
            <a:t>Services </a:t>
          </a:r>
          <a:r>
            <a:rPr lang="fr-FR" b="1"/>
            <a:t>connectés</a:t>
          </a:r>
          <a:r>
            <a:rPr lang="fr-FR"/>
            <a:t> : Gestion des équipements domestiques via des objets connectés.</a:t>
          </a:r>
          <a:endParaRPr lang="en-US" dirty="0"/>
        </a:p>
      </dgm:t>
    </dgm:pt>
    <dgm:pt modelId="{57A284D9-7002-47C3-A6B5-59FB4624C1E0}" type="parTrans" cxnId="{ACBF7A16-552E-4CC8-A30A-A180E3EB66CE}">
      <dgm:prSet/>
      <dgm:spPr/>
      <dgm:t>
        <a:bodyPr/>
        <a:lstStyle/>
        <a:p>
          <a:endParaRPr lang="en-US"/>
        </a:p>
      </dgm:t>
    </dgm:pt>
    <dgm:pt modelId="{A92F06DB-6C2C-4F84-9869-F8F802B4FD8E}" type="sibTrans" cxnId="{ACBF7A16-552E-4CC8-A30A-A180E3EB66CE}">
      <dgm:prSet/>
      <dgm:spPr/>
      <dgm:t>
        <a:bodyPr/>
        <a:lstStyle/>
        <a:p>
          <a:endParaRPr lang="en-US"/>
        </a:p>
      </dgm:t>
    </dgm:pt>
    <dgm:pt modelId="{8A206747-A163-41BE-8A72-B00CAB7F2326}">
      <dgm:prSet/>
      <dgm:spPr/>
      <dgm:t>
        <a:bodyPr/>
        <a:lstStyle/>
        <a:p>
          <a:r>
            <a:rPr lang="fr-FR"/>
            <a:t>Exemples : SFR "Home", Orange "Homelive".</a:t>
          </a:r>
          <a:endParaRPr lang="en-US"/>
        </a:p>
      </dgm:t>
    </dgm:pt>
    <dgm:pt modelId="{07B5A07B-6B38-4CDE-A93C-687EB7380089}" type="parTrans" cxnId="{4243C929-3BEA-4147-BF36-23C8DB06128D}">
      <dgm:prSet/>
      <dgm:spPr/>
      <dgm:t>
        <a:bodyPr/>
        <a:lstStyle/>
        <a:p>
          <a:endParaRPr lang="en-US"/>
        </a:p>
      </dgm:t>
    </dgm:pt>
    <dgm:pt modelId="{9C84178E-7A8C-479F-8D17-F578951D4E43}" type="sibTrans" cxnId="{4243C929-3BEA-4147-BF36-23C8DB06128D}">
      <dgm:prSet/>
      <dgm:spPr/>
      <dgm:t>
        <a:bodyPr/>
        <a:lstStyle/>
        <a:p>
          <a:endParaRPr lang="en-US"/>
        </a:p>
      </dgm:t>
    </dgm:pt>
    <dgm:pt modelId="{7E4B7DA3-9554-49A3-8B9C-150329F3A0D8}" type="pres">
      <dgm:prSet presAssocID="{BDC106E4-6BF6-434E-8D56-20837C91DB53}" presName="root" presStyleCnt="0">
        <dgm:presLayoutVars>
          <dgm:dir/>
          <dgm:resizeHandles val="exact"/>
        </dgm:presLayoutVars>
      </dgm:prSet>
      <dgm:spPr/>
    </dgm:pt>
    <dgm:pt modelId="{4E0A2048-40E6-4C33-A906-4650708E9076}" type="pres">
      <dgm:prSet presAssocID="{348963C9-B0A7-4DE7-A55F-E6E2BBEC3E23}" presName="compNode" presStyleCnt="0"/>
      <dgm:spPr/>
    </dgm:pt>
    <dgm:pt modelId="{A8EDC444-FC5A-4895-94A5-439BDF759E67}" type="pres">
      <dgm:prSet presAssocID="{348963C9-B0A7-4DE7-A55F-E6E2BBEC3E23}" presName="bgRect" presStyleLbl="bgShp" presStyleIdx="0" presStyleCnt="2"/>
      <dgm:spPr/>
    </dgm:pt>
    <dgm:pt modelId="{5997DB46-F9E4-4FB6-B722-9132BD3E4C1C}" type="pres">
      <dgm:prSet presAssocID="{348963C9-B0A7-4DE7-A55F-E6E2BBEC3E2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27DBB98-133C-4EE3-9BF9-CEAD494D8B04}" type="pres">
      <dgm:prSet presAssocID="{348963C9-B0A7-4DE7-A55F-E6E2BBEC3E23}" presName="spaceRect" presStyleCnt="0"/>
      <dgm:spPr/>
    </dgm:pt>
    <dgm:pt modelId="{980C9754-4641-4361-9005-47E832FBBEFD}" type="pres">
      <dgm:prSet presAssocID="{348963C9-B0A7-4DE7-A55F-E6E2BBEC3E23}" presName="parTx" presStyleLbl="revTx" presStyleIdx="0" presStyleCnt="3">
        <dgm:presLayoutVars>
          <dgm:chMax val="0"/>
          <dgm:chPref val="0"/>
        </dgm:presLayoutVars>
      </dgm:prSet>
      <dgm:spPr/>
    </dgm:pt>
    <dgm:pt modelId="{845AA25B-386B-469D-AB3E-F58DBA8879D6}" type="pres">
      <dgm:prSet presAssocID="{16542942-D4DD-4927-9234-EBE624C580F4}" presName="sibTrans" presStyleCnt="0"/>
      <dgm:spPr/>
    </dgm:pt>
    <dgm:pt modelId="{DE9CCA6E-3F19-45BE-9975-5EAC115F1B45}" type="pres">
      <dgm:prSet presAssocID="{38DBF056-BA29-4D75-85A1-725BAB696C43}" presName="compNode" presStyleCnt="0"/>
      <dgm:spPr/>
    </dgm:pt>
    <dgm:pt modelId="{A8F2B7B8-67A6-4922-8B1D-28DC0164111C}" type="pres">
      <dgm:prSet presAssocID="{38DBF056-BA29-4D75-85A1-725BAB696C43}" presName="bgRect" presStyleLbl="bgShp" presStyleIdx="1" presStyleCnt="2"/>
      <dgm:spPr/>
    </dgm:pt>
    <dgm:pt modelId="{B9C52849-74A1-44B1-B316-8A5F8C0529DD}" type="pres">
      <dgm:prSet presAssocID="{38DBF056-BA29-4D75-85A1-725BAB696C4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lle"/>
        </a:ext>
      </dgm:extLst>
    </dgm:pt>
    <dgm:pt modelId="{99920BF9-0E7B-42D2-A56E-1056D02DDFC8}" type="pres">
      <dgm:prSet presAssocID="{38DBF056-BA29-4D75-85A1-725BAB696C43}" presName="spaceRect" presStyleCnt="0"/>
      <dgm:spPr/>
    </dgm:pt>
    <dgm:pt modelId="{EEFBA4CC-78C9-4FCA-9C79-3D2C13708658}" type="pres">
      <dgm:prSet presAssocID="{38DBF056-BA29-4D75-85A1-725BAB696C43}" presName="parTx" presStyleLbl="revTx" presStyleIdx="1" presStyleCnt="3">
        <dgm:presLayoutVars>
          <dgm:chMax val="0"/>
          <dgm:chPref val="0"/>
        </dgm:presLayoutVars>
      </dgm:prSet>
      <dgm:spPr/>
    </dgm:pt>
    <dgm:pt modelId="{CD0A79A1-8D9F-4091-B337-A1671DEF7B81}" type="pres">
      <dgm:prSet presAssocID="{38DBF056-BA29-4D75-85A1-725BAB696C43}" presName="desTx" presStyleLbl="revTx" presStyleIdx="2" presStyleCnt="3">
        <dgm:presLayoutVars/>
      </dgm:prSet>
      <dgm:spPr/>
    </dgm:pt>
  </dgm:ptLst>
  <dgm:cxnLst>
    <dgm:cxn modelId="{ACBF7A16-552E-4CC8-A30A-A180E3EB66CE}" srcId="{BDC106E4-6BF6-434E-8D56-20837C91DB53}" destId="{38DBF056-BA29-4D75-85A1-725BAB696C43}" srcOrd="1" destOrd="0" parTransId="{57A284D9-7002-47C3-A6B5-59FB4624C1E0}" sibTransId="{A92F06DB-6C2C-4F84-9869-F8F802B4FD8E}"/>
    <dgm:cxn modelId="{4243C929-3BEA-4147-BF36-23C8DB06128D}" srcId="{38DBF056-BA29-4D75-85A1-725BAB696C43}" destId="{8A206747-A163-41BE-8A72-B00CAB7F2326}" srcOrd="0" destOrd="0" parTransId="{07B5A07B-6B38-4CDE-A93C-687EB7380089}" sibTransId="{9C84178E-7A8C-479F-8D17-F578951D4E43}"/>
    <dgm:cxn modelId="{08E23931-E0DC-4417-BD2B-13C50F3B564D}" type="presOf" srcId="{38DBF056-BA29-4D75-85A1-725BAB696C43}" destId="{EEFBA4CC-78C9-4FCA-9C79-3D2C13708658}" srcOrd="0" destOrd="0" presId="urn:microsoft.com/office/officeart/2018/2/layout/IconVerticalSolidList"/>
    <dgm:cxn modelId="{BD192136-EB76-413F-AA23-36A6352280A8}" type="presOf" srcId="{8A206747-A163-41BE-8A72-B00CAB7F2326}" destId="{CD0A79A1-8D9F-4091-B337-A1671DEF7B81}" srcOrd="0" destOrd="0" presId="urn:microsoft.com/office/officeart/2018/2/layout/IconVerticalSolidList"/>
    <dgm:cxn modelId="{38A8A63F-C458-49B6-BB0B-809D71F6A214}" type="presOf" srcId="{348963C9-B0A7-4DE7-A55F-E6E2BBEC3E23}" destId="{980C9754-4641-4361-9005-47E832FBBEFD}" srcOrd="0" destOrd="0" presId="urn:microsoft.com/office/officeart/2018/2/layout/IconVerticalSolidList"/>
    <dgm:cxn modelId="{6323807D-D4B4-4EB9-830A-0F1267DE6260}" srcId="{BDC106E4-6BF6-434E-8D56-20837C91DB53}" destId="{348963C9-B0A7-4DE7-A55F-E6E2BBEC3E23}" srcOrd="0" destOrd="0" parTransId="{75C84FF1-5763-4922-8522-DADCAA5FF3D0}" sibTransId="{16542942-D4DD-4927-9234-EBE624C580F4}"/>
    <dgm:cxn modelId="{AE9402AD-D602-4DC7-8367-D5017ED14754}" type="presOf" srcId="{BDC106E4-6BF6-434E-8D56-20837C91DB53}" destId="{7E4B7DA3-9554-49A3-8B9C-150329F3A0D8}" srcOrd="0" destOrd="0" presId="urn:microsoft.com/office/officeart/2018/2/layout/IconVerticalSolidList"/>
    <dgm:cxn modelId="{A3F15299-464C-4823-919B-E99E5DC1A06E}" type="presParOf" srcId="{7E4B7DA3-9554-49A3-8B9C-150329F3A0D8}" destId="{4E0A2048-40E6-4C33-A906-4650708E9076}" srcOrd="0" destOrd="0" presId="urn:microsoft.com/office/officeart/2018/2/layout/IconVerticalSolidList"/>
    <dgm:cxn modelId="{49256532-776E-4B6C-8102-FEF162DCEA9A}" type="presParOf" srcId="{4E0A2048-40E6-4C33-A906-4650708E9076}" destId="{A8EDC444-FC5A-4895-94A5-439BDF759E67}" srcOrd="0" destOrd="0" presId="urn:microsoft.com/office/officeart/2018/2/layout/IconVerticalSolidList"/>
    <dgm:cxn modelId="{ED38767E-7DB2-4F11-BBE7-34EA2E69261A}" type="presParOf" srcId="{4E0A2048-40E6-4C33-A906-4650708E9076}" destId="{5997DB46-F9E4-4FB6-B722-9132BD3E4C1C}" srcOrd="1" destOrd="0" presId="urn:microsoft.com/office/officeart/2018/2/layout/IconVerticalSolidList"/>
    <dgm:cxn modelId="{A2AEE86A-46EE-4892-834F-D2881848E0DA}" type="presParOf" srcId="{4E0A2048-40E6-4C33-A906-4650708E9076}" destId="{B27DBB98-133C-4EE3-9BF9-CEAD494D8B04}" srcOrd="2" destOrd="0" presId="urn:microsoft.com/office/officeart/2018/2/layout/IconVerticalSolidList"/>
    <dgm:cxn modelId="{AA6132B8-B8E5-4F6D-A97F-07E81E3801C4}" type="presParOf" srcId="{4E0A2048-40E6-4C33-A906-4650708E9076}" destId="{980C9754-4641-4361-9005-47E832FBBEFD}" srcOrd="3" destOrd="0" presId="urn:microsoft.com/office/officeart/2018/2/layout/IconVerticalSolidList"/>
    <dgm:cxn modelId="{551E40D0-88EC-4A1F-B59E-5EAE0F62B21C}" type="presParOf" srcId="{7E4B7DA3-9554-49A3-8B9C-150329F3A0D8}" destId="{845AA25B-386B-469D-AB3E-F58DBA8879D6}" srcOrd="1" destOrd="0" presId="urn:microsoft.com/office/officeart/2018/2/layout/IconVerticalSolidList"/>
    <dgm:cxn modelId="{42E8C789-ADCF-4CD2-AB33-68C23B155087}" type="presParOf" srcId="{7E4B7DA3-9554-49A3-8B9C-150329F3A0D8}" destId="{DE9CCA6E-3F19-45BE-9975-5EAC115F1B45}" srcOrd="2" destOrd="0" presId="urn:microsoft.com/office/officeart/2018/2/layout/IconVerticalSolidList"/>
    <dgm:cxn modelId="{EA693F79-B325-48E8-8949-5B211656C1AA}" type="presParOf" srcId="{DE9CCA6E-3F19-45BE-9975-5EAC115F1B45}" destId="{A8F2B7B8-67A6-4922-8B1D-28DC0164111C}" srcOrd="0" destOrd="0" presId="urn:microsoft.com/office/officeart/2018/2/layout/IconVerticalSolidList"/>
    <dgm:cxn modelId="{004258C6-EA16-4DF8-A882-E1F718417466}" type="presParOf" srcId="{DE9CCA6E-3F19-45BE-9975-5EAC115F1B45}" destId="{B9C52849-74A1-44B1-B316-8A5F8C0529DD}" srcOrd="1" destOrd="0" presId="urn:microsoft.com/office/officeart/2018/2/layout/IconVerticalSolidList"/>
    <dgm:cxn modelId="{ED1A936D-CF5C-4BC1-AC7C-0B17D1C27C68}" type="presParOf" srcId="{DE9CCA6E-3F19-45BE-9975-5EAC115F1B45}" destId="{99920BF9-0E7B-42D2-A56E-1056D02DDFC8}" srcOrd="2" destOrd="0" presId="urn:microsoft.com/office/officeart/2018/2/layout/IconVerticalSolidList"/>
    <dgm:cxn modelId="{47BDBA6B-DB25-4408-8B0D-79F826375C7C}" type="presParOf" srcId="{DE9CCA6E-3F19-45BE-9975-5EAC115F1B45}" destId="{EEFBA4CC-78C9-4FCA-9C79-3D2C13708658}" srcOrd="3" destOrd="0" presId="urn:microsoft.com/office/officeart/2018/2/layout/IconVerticalSolidList"/>
    <dgm:cxn modelId="{026A2DEB-65B1-4243-93BA-EA362BBFDDB0}" type="presParOf" srcId="{DE9CCA6E-3F19-45BE-9975-5EAC115F1B45}" destId="{CD0A79A1-8D9F-4091-B337-A1671DEF7B8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DC444-FC5A-4895-94A5-439BDF759E67}">
      <dsp:nvSpPr>
        <dsp:cNvPr id="0" name=""/>
        <dsp:cNvSpPr/>
      </dsp:nvSpPr>
      <dsp:spPr>
        <a:xfrm>
          <a:off x="0" y="830579"/>
          <a:ext cx="7216416" cy="1533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7DB46-F9E4-4FB6-B722-9132BD3E4C1C}">
      <dsp:nvSpPr>
        <dsp:cNvPr id="0" name=""/>
        <dsp:cNvSpPr/>
      </dsp:nvSpPr>
      <dsp:spPr>
        <a:xfrm>
          <a:off x="463846" y="1175589"/>
          <a:ext cx="843357" cy="8433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0C9754-4641-4361-9005-47E832FBBEFD}">
      <dsp:nvSpPr>
        <dsp:cNvPr id="0" name=""/>
        <dsp:cNvSpPr/>
      </dsp:nvSpPr>
      <dsp:spPr>
        <a:xfrm>
          <a:off x="1771051" y="830579"/>
          <a:ext cx="5445364" cy="1533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283" tIns="162283" rIns="162283" bIns="1622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/>
            <a:t>Assistants virtuels</a:t>
          </a:r>
          <a:r>
            <a:rPr lang="fr-FR" sz="2100" kern="1200"/>
            <a:t> pour le support client.</a:t>
          </a:r>
          <a:endParaRPr lang="en-US" sz="2100" kern="1200"/>
        </a:p>
      </dsp:txBody>
      <dsp:txXfrm>
        <a:off x="1771051" y="830579"/>
        <a:ext cx="5445364" cy="1533378"/>
      </dsp:txXfrm>
    </dsp:sp>
    <dsp:sp modelId="{A8F2B7B8-67A6-4922-8B1D-28DC0164111C}">
      <dsp:nvSpPr>
        <dsp:cNvPr id="0" name=""/>
        <dsp:cNvSpPr/>
      </dsp:nvSpPr>
      <dsp:spPr>
        <a:xfrm>
          <a:off x="0" y="2747302"/>
          <a:ext cx="7216416" cy="1533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C52849-74A1-44B1-B316-8A5F8C0529DD}">
      <dsp:nvSpPr>
        <dsp:cNvPr id="0" name=""/>
        <dsp:cNvSpPr/>
      </dsp:nvSpPr>
      <dsp:spPr>
        <a:xfrm>
          <a:off x="463846" y="3092312"/>
          <a:ext cx="843357" cy="8433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BA4CC-78C9-4FCA-9C79-3D2C13708658}">
      <dsp:nvSpPr>
        <dsp:cNvPr id="0" name=""/>
        <dsp:cNvSpPr/>
      </dsp:nvSpPr>
      <dsp:spPr>
        <a:xfrm>
          <a:off x="1771051" y="2747302"/>
          <a:ext cx="3247387" cy="1533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283" tIns="162283" rIns="162283" bIns="16228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 dirty="0"/>
            <a:t>Services </a:t>
          </a:r>
          <a:r>
            <a:rPr lang="fr-FR" sz="2100" b="1" kern="1200"/>
            <a:t>connectés</a:t>
          </a:r>
          <a:r>
            <a:rPr lang="fr-FR" sz="2100" kern="1200"/>
            <a:t> : Gestion des équipements domestiques via des objets connectés.</a:t>
          </a:r>
          <a:endParaRPr lang="en-US" sz="2100" kern="1200" dirty="0"/>
        </a:p>
      </dsp:txBody>
      <dsp:txXfrm>
        <a:off x="1771051" y="2747302"/>
        <a:ext cx="3247387" cy="1533378"/>
      </dsp:txXfrm>
    </dsp:sp>
    <dsp:sp modelId="{CD0A79A1-8D9F-4091-B337-A1671DEF7B81}">
      <dsp:nvSpPr>
        <dsp:cNvPr id="0" name=""/>
        <dsp:cNvSpPr/>
      </dsp:nvSpPr>
      <dsp:spPr>
        <a:xfrm>
          <a:off x="5018438" y="2747302"/>
          <a:ext cx="2197977" cy="1533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283" tIns="162283" rIns="162283" bIns="16228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Exemples : SFR "Home", Orange "Homelive".</a:t>
          </a:r>
          <a:endParaRPr lang="en-US" sz="1600" kern="1200"/>
        </a:p>
      </dsp:txBody>
      <dsp:txXfrm>
        <a:off x="5018438" y="2747302"/>
        <a:ext cx="2197977" cy="1533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E392A-E2E8-40DA-B3DA-4BFBCE7CD51E}" type="datetimeFigureOut">
              <a:rPr lang="fr-FR" smtClean="0"/>
              <a:t>29/04/2025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3B217D-2E3A-4EC9-873B-ED50D038E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305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3B217D-2E3A-4EC9-873B-ED50D038EBF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03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3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3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44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9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9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1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4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7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6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3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74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58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sfurets.com/box-internet/vdsl" TargetMode="External"/><Relationship Id="rId2" Type="http://schemas.openxmlformats.org/officeDocument/2006/relationships/hyperlink" Target="https://www.lesfurets.com/box-internet/guide/ads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sfurets.com/box-internet/fibre-optique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kinsta.com/fr/base-de-connaissances/qu-est-ce-qu-un-fa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Modèle 3D de formes en anneau connecté par des lignes">
            <a:extLst>
              <a:ext uri="{FF2B5EF4-FFF2-40B4-BE49-F238E27FC236}">
                <a16:creationId xmlns:a16="http://schemas.microsoft.com/office/drawing/2014/main" id="{8DF35AB4-507F-EAC4-3D2B-2B38CA4A55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600" y="1066800"/>
            <a:ext cx="4681728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B081AF3-D38F-6D29-56C3-EB0E44FCF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9722" y="1562101"/>
            <a:ext cx="3884568" cy="2738530"/>
          </a:xfrm>
        </p:spPr>
        <p:txBody>
          <a:bodyPr anchor="t">
            <a:normAutofit/>
          </a:bodyPr>
          <a:lstStyle/>
          <a:p>
            <a:r>
              <a:rPr lang="fr-FR" sz="4800"/>
              <a:t>Les réseaux FAI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98803CE-DE2A-E9AE-E96E-C4E3C8AA9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9722" y="4321622"/>
            <a:ext cx="3813048" cy="941832"/>
          </a:xfrm>
        </p:spPr>
        <p:txBody>
          <a:bodyPr>
            <a:normAutofit lnSpcReduction="10000"/>
          </a:bodyPr>
          <a:lstStyle/>
          <a:p>
            <a:r>
              <a:rPr lang="fr-FR" sz="2000" dirty="0"/>
              <a:t>Présenté par</a:t>
            </a:r>
          </a:p>
          <a:p>
            <a:r>
              <a:rPr lang="fr-FR" sz="2000" dirty="0" err="1"/>
              <a:t>Sayed-ateeb</a:t>
            </a:r>
            <a:endParaRPr lang="fr-FR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619035" y="3435440"/>
            <a:ext cx="0" cy="46908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520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AEF38F-15DE-DEA4-BB3F-5DB9F1DEB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Qu’est ce qu’un FAI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003779-69E0-658F-E5CB-04FAB2147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943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Un FAI (fournisseur d’accès à internet) désigne une entité qui fournis aux particuliers ainsi qu’aux professionnels un accès à internet 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par le biais de technologies spécifiques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055250A-FCE0-E544-1396-D4E684B1C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960" y="1074553"/>
            <a:ext cx="4420961" cy="9327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F2AE422-56CB-3F30-B3EB-3BB838E49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" y="4098470"/>
            <a:ext cx="3407229" cy="170361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6E9AEFB-D628-8F43-272D-878C2C9DA78E}"/>
              </a:ext>
            </a:extLst>
          </p:cNvPr>
          <p:cNvSpPr txBox="1"/>
          <p:nvPr/>
        </p:nvSpPr>
        <p:spPr>
          <a:xfrm>
            <a:off x="4342542" y="4359727"/>
            <a:ext cx="72093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0" i="0" u="none" strike="noStrike" dirty="0">
                <a:solidFill>
                  <a:srgbClr val="000000"/>
                </a:solidFill>
                <a:effectLst/>
              </a:rPr>
              <a:t>La connexion Internet sera limitée ou illimitée, et adaptée au budget de chaque client, sachant que les services proposés par un fournisseur d’accès à Internet sont généralement payants.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78614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77060-E6F3-9A19-B9BA-DDBD39B21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peu d’histoire…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E70C38-3B6E-15DF-A21D-37197409C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b="1" dirty="0"/>
              <a:t>Histoire des Fournisseurs d'Accès Internet (FAI)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Années 1990</a:t>
            </a:r>
            <a:r>
              <a:rPr lang="fr-FR" dirty="0"/>
              <a:t> : Apparition des premiers FAI avec des connexions par modem (AOL, CompuServe).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Années 2000</a:t>
            </a:r>
            <a:r>
              <a:rPr lang="fr-FR" dirty="0"/>
              <a:t> : Passage au haut débit (ADSL, câble). Développement de FAI en France comme Free, Orange (ex-Wanadoo), Neuf Cegetel.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Années 2010</a:t>
            </a:r>
            <a:r>
              <a:rPr lang="fr-FR" dirty="0"/>
              <a:t> : Arrivée de la fibre optique et consolidation du marché (Orange rachète Wanadoo, SFR rachète Neuf Cegetel).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Années 2020</a:t>
            </a:r>
            <a:r>
              <a:rPr lang="fr-FR" dirty="0"/>
              <a:t> : Montée en puissance des FAI mobiles (Free Mobile, Bouygues, SFR) et déploiement de la 4G/5G.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46EC074-EEC8-AC71-FDB4-5CFA96C11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356" y="490538"/>
            <a:ext cx="3131652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3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CF557-9A99-DB79-4A04-4B63E27E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Quelles technologies sont utilisées par les FAI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2923B8-D05E-E8BE-64A8-9978C7B2C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FAI utilisent différentes technologies pour nous permettre de bénéficier d’une connexion internet : le câble, le satellite, la prise téléphonique, téléphone mobile… </a:t>
            </a:r>
          </a:p>
          <a:p>
            <a:r>
              <a:rPr lang="fr-FR" b="0" i="0" u="none" strike="noStrike" dirty="0">
                <a:solidFill>
                  <a:srgbClr val="000000"/>
                </a:solidFill>
                <a:effectLst/>
                <a:hlinkClick r:id="rId2"/>
              </a:rPr>
              <a:t>ADSL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ou 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hlinkClick r:id="rId3"/>
              </a:rPr>
              <a:t>VDSL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,</a:t>
            </a:r>
            <a:r>
              <a:rPr lang="fr-FR" b="0" i="0" u="none" strike="noStrike" dirty="0">
                <a:solidFill>
                  <a:srgbClr val="00263C"/>
                </a:solidFill>
                <a:effectLst/>
              </a:rPr>
              <a:t> qui correspond à une connexion haut débit qui passe par des câbles en cuivre déployés sur l’ensemble du territoire national</a:t>
            </a:r>
          </a:p>
          <a:p>
            <a:r>
              <a:rPr lang="fr-FR" dirty="0">
                <a:solidFill>
                  <a:srgbClr val="000000"/>
                </a:solidFill>
                <a:hlinkClick r:id="rId4"/>
              </a:rPr>
              <a:t>L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hlinkClick r:id="rId4"/>
              </a:rPr>
              <a:t>a fibre optique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, qui permet une connexion Internet à très haut débit via l’utilisation d’un fil en verre ou en plastique qui transporte de la lumière</a:t>
            </a:r>
          </a:p>
          <a:p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Une Box TV, en plus d’Internet </a:t>
            </a:r>
            <a:r>
              <a:rPr lang="fr-FR" dirty="0">
                <a:solidFill>
                  <a:srgbClr val="000000"/>
                </a:solidFill>
              </a:rPr>
              <a:t>elle propose 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une pléthore de chaînes, de films et de vidéos mis à votre disposition à n’importe quel moment de la journée.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976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E83811-A5B2-1613-3283-46E102AC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880360"/>
            <a:ext cx="10890929" cy="1097280"/>
          </a:xfrm>
        </p:spPr>
        <p:txBody>
          <a:bodyPr>
            <a:normAutofit/>
          </a:bodyPr>
          <a:lstStyle/>
          <a:p>
            <a:pPr algn="ctr"/>
            <a:r>
              <a:rPr lang="fr-FR" sz="5400" dirty="0"/>
              <a:t>Nouveautés prévues</a:t>
            </a:r>
          </a:p>
        </p:txBody>
      </p:sp>
    </p:spTree>
    <p:extLst>
      <p:ext uri="{BB962C8B-B14F-4D97-AF65-F5344CB8AC3E}">
        <p14:creationId xmlns:p14="http://schemas.microsoft.com/office/powerpoint/2010/main" val="28250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706B42-66C9-57CF-D721-8440384B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La fibre optique 10 Gbit/s (2023-2024)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28980E-4FAF-2461-CE1E-7FA77D72A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Plusieurs FAI (comme </a:t>
            </a:r>
            <a:r>
              <a:rPr lang="fr-FR" b="1" dirty="0"/>
              <a:t>Orange</a:t>
            </a:r>
            <a:r>
              <a:rPr lang="fr-FR" dirty="0"/>
              <a:t> et </a:t>
            </a:r>
            <a:r>
              <a:rPr lang="fr-FR" b="1" dirty="0"/>
              <a:t>SFR</a:t>
            </a:r>
            <a:r>
              <a:rPr lang="fr-FR" dirty="0"/>
              <a:t>) ont commencé à tester et à déployer la fibre optique à 10 Gbit/s pour les particuliers, une vitesse bien plus élevée que la fibre classique (1 Gbit/s). Cette évolution répond à la demande croissante pour des connexions ultra-rapides et la multiplication des objets connectés.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Ces déploiements commencent à se faire en zones expérimentales et dans des villes à forte densité de population, avant un déploiement plus large dans les prochaines années.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382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0F650B-6902-71CC-B5B2-914BF629D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fr-FR" b="1" dirty="0"/>
              <a:t>L’IPv6 obligatoire sur certaines offres (2024)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C99B36D-FCBD-4E30-3E10-622C1505A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70683"/>
            <a:ext cx="5648193" cy="295118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A2E350-7B0F-83D2-B2FD-AFA92EA82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1927110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fr-FR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fr-FR" dirty="0"/>
              <a:t>L'</a:t>
            </a:r>
            <a:r>
              <a:rPr lang="fr-FR" b="1" dirty="0"/>
              <a:t>IPv6</a:t>
            </a:r>
            <a:r>
              <a:rPr lang="fr-FR" dirty="0"/>
              <a:t> (nouveau protocole d'adressage Internet) devrait devenir obligatoire sur certaines offres en raison de l'épuisement des adresses IPv4. 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fr-FR" b="1" dirty="0"/>
              <a:t>Free</a:t>
            </a:r>
            <a:r>
              <a:rPr lang="fr-FR" dirty="0"/>
              <a:t> et </a:t>
            </a:r>
            <a:r>
              <a:rPr lang="fr-FR" b="1" dirty="0"/>
              <a:t>Orange</a:t>
            </a:r>
            <a:r>
              <a:rPr lang="fr-FR" dirty="0"/>
              <a:t>, ont commencé à implémenter l'IPv6 de manière systématique dans leurs nouvelles offres et box.</a:t>
            </a:r>
          </a:p>
          <a:p>
            <a:pPr>
              <a:lnSpc>
                <a:spcPct val="110000"/>
              </a:lnSpc>
            </a:pPr>
            <a:endParaRPr lang="fr-F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90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9081FF-6686-E1D5-941C-884DAC109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500" dirty="0"/>
              <a:t>L'augmentation de la couverture fibre et 4G/5G en zones rurales (2023-2024)</a:t>
            </a:r>
            <a:br>
              <a:rPr lang="fr-FR" sz="2500" dirty="0"/>
            </a:br>
            <a:endParaRPr lang="fr-FR" sz="25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E48876-94B6-5AE1-83F5-A62FDB7B0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606" y="2508690"/>
            <a:ext cx="4255375" cy="1829811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912B60-D0B3-39AC-8D1D-F63DD3043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305067"/>
            <a:ext cx="6854508" cy="406686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fr-FR" dirty="0"/>
              <a:t>Les FAI ont intensifié leurs efforts pour élargir la couverture en fibre optique dans les zones rurales et moins denses. Des initiatives comme le </a:t>
            </a:r>
            <a:r>
              <a:rPr lang="fr-FR" b="1" dirty="0"/>
              <a:t>Plan France Très Haut Débit</a:t>
            </a:r>
            <a:r>
              <a:rPr lang="fr-FR" dirty="0"/>
              <a:t> continuent d'être déployées, visant à couvrir 100 % du territoire français en fibre d'ici 2025.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fr-FR" dirty="0"/>
              <a:t>Parallèlement, la couverture </a:t>
            </a:r>
            <a:r>
              <a:rPr lang="fr-FR" b="1" dirty="0"/>
              <a:t>4G</a:t>
            </a:r>
            <a:r>
              <a:rPr lang="fr-FR" dirty="0"/>
              <a:t> et </a:t>
            </a:r>
            <a:r>
              <a:rPr lang="fr-FR" b="1" dirty="0"/>
              <a:t>5G</a:t>
            </a:r>
            <a:r>
              <a:rPr lang="fr-FR" dirty="0"/>
              <a:t> s'est également intensifiée dans les zones rurales, via des projets financés par l'État et les opérateurs pour améliorer l'accès mobile.</a:t>
            </a:r>
          </a:p>
          <a:p>
            <a:pPr>
              <a:lnSpc>
                <a:spcPct val="110000"/>
              </a:lnSpc>
            </a:pPr>
            <a:endParaRPr lang="fr-F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249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553BD-32B6-21A2-4856-56F1B6AA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5G Fixe - Déploiement de la 5G à la maison (2023)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43999D-52ED-8C29-260D-EE10C8DEF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La </a:t>
            </a:r>
            <a:r>
              <a:rPr lang="fr-FR" b="1" dirty="0"/>
              <a:t>5G fixe</a:t>
            </a:r>
            <a:r>
              <a:rPr lang="fr-FR" dirty="0"/>
              <a:t> ou </a:t>
            </a:r>
            <a:r>
              <a:rPr lang="fr-FR" b="1" dirty="0"/>
              <a:t>5G Home Internet</a:t>
            </a:r>
            <a:r>
              <a:rPr lang="fr-FR" dirty="0"/>
              <a:t> a été lancée en 2023 par des FAI comme </a:t>
            </a:r>
            <a:r>
              <a:rPr lang="fr-FR" b="1" dirty="0"/>
              <a:t>Free</a:t>
            </a:r>
            <a:r>
              <a:rPr lang="fr-FR" dirty="0"/>
              <a:t> et </a:t>
            </a:r>
            <a:r>
              <a:rPr lang="fr-FR" b="1" dirty="0"/>
              <a:t>Bouygues Telecom</a:t>
            </a:r>
            <a:r>
              <a:rPr lang="fr-FR" dirty="0"/>
              <a:t>. Contrairement à la fibre, la 5G fixe permet d'offrir une connexion Internet haut débit sans nécessiter de câblage physique, ce qui est idéal pour les zones rurales ou difficiles à desservir.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La 5G fixe propose des vitesses de connexion proches de la fibre avec une installation plus simple et plus rapide.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3109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41ECE6-9FCE-0CC9-B1DB-599C4CCE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6G (2030)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58F754-40EF-56C8-E678-7EBD68883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176826" cy="35661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/>
              <a:t> La 6G est la Révolution Mobile de Demain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Débit ultra-rapide</a:t>
            </a:r>
            <a:r>
              <a:rPr lang="fr-FR" dirty="0"/>
              <a:t> : jusqu’à </a:t>
            </a:r>
            <a:r>
              <a:rPr lang="fr-FR" b="1" dirty="0"/>
              <a:t>1 </a:t>
            </a:r>
            <a:r>
              <a:rPr lang="fr-FR" b="1" dirty="0" err="1"/>
              <a:t>Tbit</a:t>
            </a:r>
            <a:r>
              <a:rPr lang="fr-FR" b="1" dirty="0"/>
              <a:t>/s</a:t>
            </a:r>
            <a:r>
              <a:rPr lang="fr-FR" dirty="0"/>
              <a:t> (100× plus que la 5G)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Latence ultra-faible</a:t>
            </a:r>
            <a:r>
              <a:rPr lang="fr-FR" dirty="0"/>
              <a:t> : seulement </a:t>
            </a:r>
            <a:r>
              <a:rPr lang="fr-FR" b="1" dirty="0"/>
              <a:t>1 milliseconde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Couverture étendue</a:t>
            </a:r>
            <a:r>
              <a:rPr lang="fr-FR" dirty="0"/>
              <a:t> pour connecter partout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608A8D-7682-DB39-8103-7BDDFDFDB7BD}"/>
              </a:ext>
            </a:extLst>
          </p:cNvPr>
          <p:cNvSpPr txBox="1"/>
          <p:nvPr/>
        </p:nvSpPr>
        <p:spPr>
          <a:xfrm>
            <a:off x="6096000" y="2633472"/>
            <a:ext cx="56296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sz="2000" b="1" dirty="0"/>
              <a:t>Lancement prévu en 2030  et le coût est estimé à 1,5 milliard d’euros</a:t>
            </a:r>
          </a:p>
          <a:p>
            <a:pPr>
              <a:buNone/>
            </a:pPr>
            <a:endParaRPr lang="fr-FR" sz="2000" dirty="0"/>
          </a:p>
          <a:p>
            <a:pPr>
              <a:buNone/>
            </a:pPr>
            <a:r>
              <a:rPr lang="fr-FR" sz="2000" b="1" dirty="0"/>
              <a:t>Nouvelles opportunités technologiques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IA, réalité virtuelle, objets connectés et autonomes</a:t>
            </a:r>
          </a:p>
          <a:p>
            <a:endParaRPr lang="fr-F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/>
              <a:t>Nouvelles façons de </a:t>
            </a:r>
            <a:r>
              <a:rPr lang="fr-FR" sz="2000" b="1" dirty="0"/>
              <a:t>collaborer</a:t>
            </a:r>
            <a:r>
              <a:rPr lang="fr-FR" sz="2000" dirty="0"/>
              <a:t>, </a:t>
            </a:r>
            <a:r>
              <a:rPr lang="fr-FR" sz="2000" b="1" dirty="0"/>
              <a:t>produire</a:t>
            </a:r>
            <a:r>
              <a:rPr lang="fr-FR" sz="2000" dirty="0"/>
              <a:t> et </a:t>
            </a:r>
            <a:r>
              <a:rPr lang="fr-FR" sz="2000" b="1" dirty="0"/>
              <a:t>innover</a:t>
            </a:r>
            <a:endParaRPr lang="fr-FR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E4D312-4D54-AC78-0119-92A358255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046" y="500063"/>
            <a:ext cx="2619375" cy="17430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7690616-272E-F250-6074-34CDF6A95889}"/>
              </a:ext>
            </a:extLst>
          </p:cNvPr>
          <p:cNvSpPr txBox="1"/>
          <p:nvPr/>
        </p:nvSpPr>
        <p:spPr>
          <a:xfrm>
            <a:off x="881349" y="5839602"/>
            <a:ext cx="10270072" cy="64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Corée du Sud prévoit de lancer son réseau 6G commercial dès 2028, devenant ainsi le premier pays à déployer cette technologie.</a:t>
            </a:r>
          </a:p>
        </p:txBody>
      </p:sp>
    </p:spTree>
    <p:extLst>
      <p:ext uri="{BB962C8B-B14F-4D97-AF65-F5344CB8AC3E}">
        <p14:creationId xmlns:p14="http://schemas.microsoft.com/office/powerpoint/2010/main" val="587146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CA42F6-F4F9-378B-8169-04ECE2E5D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100065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100" b="1"/>
              <a:t>Diversification des Offres (2023-2024)</a:t>
            </a:r>
            <a:br>
              <a:rPr lang="fr-FR" sz="3100" b="1"/>
            </a:br>
            <a:endParaRPr lang="fr-FR" sz="31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30CBB7-4979-FF4A-1BED-023871C58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id="{73BDB0D7-C5A2-B0AD-E283-D07A3AC8D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79" y="2712856"/>
            <a:ext cx="2123347" cy="212334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611C5B3-03F2-6A03-2D85-B4F8693A2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389" y="2920420"/>
            <a:ext cx="2847029" cy="1708217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0479BB-AA09-CC9E-F23A-241C474A3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0029" y="2712856"/>
            <a:ext cx="4920342" cy="3644401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1800" b="1" dirty="0"/>
              <a:t>Émergence de nouveaux acteurs</a:t>
            </a:r>
            <a:r>
              <a:rPr lang="fr-FR" sz="1800" dirty="0"/>
              <a:t> : Services spécialisés, personnalisation des offres, plus de compétitivité.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800" b="1" dirty="0"/>
              <a:t>Exemples</a:t>
            </a:r>
            <a:r>
              <a:rPr lang="fr-FR" sz="1800" dirty="0"/>
              <a:t> : Offres combinées Internet + TV + téléphonie, choix de débits, et couverture étendue.</a:t>
            </a:r>
          </a:p>
          <a:p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583993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B0A85C-B21B-2997-19BB-626CDADEA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fr-FR" sz="3600"/>
              <a:t>Intelligence Artificielle et Domotique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9E11B9F8-8791-780C-0B62-A15F18C65D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87115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972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D0F26C-6CE1-590B-18B1-411B8F2F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Veille technologique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24887E-2EC3-6FC4-E181-2A36A76F1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Ressources utilisées :</a:t>
            </a:r>
          </a:p>
          <a:p>
            <a:r>
              <a:rPr lang="fr-FR" dirty="0">
                <a:hlinkClick r:id="rId2"/>
              </a:rPr>
              <a:t>https://kinsta.com/fr/base-de-connaissances/qu-est-ce-qu-un-fai/</a:t>
            </a:r>
            <a:endParaRPr lang="fr-FR" dirty="0"/>
          </a:p>
          <a:p>
            <a:r>
              <a:rPr lang="fr-FR" dirty="0"/>
              <a:t>Sites des opérateurs Free, Bouygues, Orange…</a:t>
            </a:r>
          </a:p>
          <a:p>
            <a:r>
              <a:rPr lang="fr-FR" dirty="0"/>
              <a:t>Intelligence Artificielles</a:t>
            </a:r>
          </a:p>
        </p:txBody>
      </p:sp>
    </p:spTree>
    <p:extLst>
      <p:ext uri="{BB962C8B-B14F-4D97-AF65-F5344CB8AC3E}">
        <p14:creationId xmlns:p14="http://schemas.microsoft.com/office/powerpoint/2010/main" val="28363208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824</Words>
  <Application>Microsoft Office PowerPoint</Application>
  <PresentationFormat>Grand écran</PresentationFormat>
  <Paragraphs>57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Arial</vt:lpstr>
      <vt:lpstr>Grandview Display</vt:lpstr>
      <vt:lpstr>DashVTI</vt:lpstr>
      <vt:lpstr>Les réseaux FAI</vt:lpstr>
      <vt:lpstr>Qu’est ce qu’un FAI</vt:lpstr>
      <vt:lpstr>Un peu d’histoire…</vt:lpstr>
      <vt:lpstr>Quelles technologies sont utilisées par les FAI ?</vt:lpstr>
      <vt:lpstr>Nouveautés prévues</vt:lpstr>
      <vt:lpstr>La fibre optique 10 Gbit/s (2023-2024) </vt:lpstr>
      <vt:lpstr>L’IPv6 obligatoire sur certaines offres (2024)</vt:lpstr>
      <vt:lpstr>L'augmentation de la couverture fibre et 4G/5G en zones rurales (2023-2024) </vt:lpstr>
      <vt:lpstr>5G Fixe - Déploiement de la 5G à la maison (2023) </vt:lpstr>
      <vt:lpstr>La 6G (2030)</vt:lpstr>
      <vt:lpstr>Diversification des Offres (2023-2024) </vt:lpstr>
      <vt:lpstr>Intelligence Artificielle et Domotique</vt:lpstr>
      <vt:lpstr>Veille technologique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Sayed-Ateeb ZIAFAT</dc:creator>
  <cp:lastModifiedBy>ZIAFAT</cp:lastModifiedBy>
  <cp:revision>8</cp:revision>
  <dcterms:created xsi:type="dcterms:W3CDTF">2025-04-18T16:18:32Z</dcterms:created>
  <dcterms:modified xsi:type="dcterms:W3CDTF">2025-04-29T09:33:21Z</dcterms:modified>
</cp:coreProperties>
</file>